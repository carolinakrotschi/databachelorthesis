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2" r:id="rId8"/>
    <p:sldId id="261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007"/>
    <p:restoredTop sz="94637"/>
  </p:normalViewPr>
  <p:slideViewPr>
    <p:cSldViewPr snapToGrid="0">
      <p:cViewPr>
        <p:scale>
          <a:sx n="52" d="100"/>
          <a:sy n="52" d="100"/>
        </p:scale>
        <p:origin x="-88" y="1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20F8B7-E9EF-355E-2A48-F0BBAB53CE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00BFBB7-103C-67AF-F51D-FDE5815CA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368930-832F-9964-5EAE-3DF308BD7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CED64-3ED4-6143-8920-A4F091AE38BD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08960A2-42B0-5B65-FE8A-40FE7601A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EAE373-3F91-0CB9-ACB0-78E749BA2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33130-4D38-2D43-82F2-48A08D81D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6856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4A2A83-634A-F48D-B742-08CD97373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3BB24A-A9C2-5674-7EF8-21580C5B6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A80314-CDCC-A56E-D55E-FA49EE79F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CED64-3ED4-6143-8920-A4F091AE38BD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C02639-3A83-46B7-E41E-3F3298E3C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DC6DE0C-26D8-5A67-994E-B8BEE5AA3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33130-4D38-2D43-82F2-48A08D81D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1382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2C509F-AFBB-0579-A536-A527F18E5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09F3E9-E66A-A29D-ADAB-12827AA1E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4D1068-4ECD-B61D-ADA5-244E88312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CED64-3ED4-6143-8920-A4F091AE38BD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FD6D47-ECB4-BC9F-AB70-6CA374E6D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9196D2-6DAF-B140-9AA2-A5DC77112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33130-4D38-2D43-82F2-48A08D81D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4913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8CF737-C461-0FD6-97B3-FD2C67EB8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51B35E-D3D8-B7DB-4E5A-8781BFA7A8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245108F-69DC-DBCE-9CFB-00998D97B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F2E0E51-DB9D-F3BC-3B7F-6250A75CB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CED64-3ED4-6143-8920-A4F091AE38BD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38C1642-0071-C344-2628-6510891A8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9B10F84-D8C0-E4AB-CFE4-DE3D79D16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33130-4D38-2D43-82F2-48A08D81D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9332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D53065-0B4A-0168-AD32-A17DE67C5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1AC8F13-D936-79DF-5321-CDCDB7E01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77C83AC-86CE-07CB-6FC2-36A6F1433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9072C11-7774-C952-8886-57D3DA8782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40CF557-8878-6A71-FDBB-767A0F28B8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2F8AEC9-E59D-0262-39BA-32AAA1BF1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CED64-3ED4-6143-8920-A4F091AE38BD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6BFF7EE-2C0A-CEF7-D7D8-B41E44DBF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04BFF29-F42B-7527-AA8D-04B65EC0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33130-4D38-2D43-82F2-48A08D81D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9914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8A7C78-2B87-8A58-22B7-340344D7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2750C1A-EF32-5486-5977-A6206BD6F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CED64-3ED4-6143-8920-A4F091AE38BD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A7BD78C-3107-330F-BADA-1703E59D2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BA7A4DB-4E2B-DE03-8E3A-9261060D3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33130-4D38-2D43-82F2-48A08D81D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6332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2CDE804-916C-9F6E-F3F6-013E0D461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CED64-3ED4-6143-8920-A4F091AE38BD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47522F6-044C-404B-6B39-04D87098B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4893F5-AC1D-4ABD-EF10-C712FA3A0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33130-4D38-2D43-82F2-48A08D81D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9371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7CBD4A-047B-42AD-BD9C-B40C75558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9AC047-9097-2955-900D-B36289CEB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D367B8C-A402-5F22-0A95-7802922A4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0B84959-6474-A8EE-3C31-157D52832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CED64-3ED4-6143-8920-A4F091AE38BD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EE8914-67A3-B9BB-1309-225DF62F4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B7B02B7-DA9E-4041-D9F6-14A77603A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33130-4D38-2D43-82F2-48A08D81D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375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931B75-8448-7C8C-1561-7257119F8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7EF68A2-3CEE-BB3C-CBA1-42971251DE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1EB8A4C-70F8-8681-D00C-359D06D006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6992841-E4B9-2193-D8E9-B58C42FBF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CED64-3ED4-6143-8920-A4F091AE38BD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99A990C-B91E-FD8B-D0F0-4D0C6ED72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E45A39-97B1-B4CD-A43F-F42A9F0F9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33130-4D38-2D43-82F2-48A08D81D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180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4B077F-7B72-81E3-8C06-4F255E020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2E2D255-BDE2-7F67-1ED2-4E20E538B7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E685CA-1CAB-DF70-6951-B26162075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CED64-3ED4-6143-8920-A4F091AE38BD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E5A872-940A-3D01-C982-0993B37DB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B24DB8-2145-65A2-AC0B-5CDC33229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33130-4D38-2D43-82F2-48A08D81D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553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351BF6B-F8C1-E59F-736A-3B547F78BB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2753C53-4E03-5015-4936-4A49AF1490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0FEE27-91EF-C0E7-2DD0-1483C72C7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CED64-3ED4-6143-8920-A4F091AE38BD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85188C-365B-899D-B64E-919FFADD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437507-2758-346B-1D8B-43FD65EF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33130-4D38-2D43-82F2-48A08D81D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3187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D83B9C3-9D82-A7EE-DABF-F1CF495CE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87F361-D22F-B3D8-1080-053726FF3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A94D29-49CC-B86E-4F1E-698B4E56D2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ACED64-3ED4-6143-8920-A4F091AE38BD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45B262-BE90-4509-FB52-F742F7D55A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B13E36-7C8A-AC94-66F6-62A8691EEF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D33130-4D38-2D43-82F2-48A08D81D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576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054561-BF53-9C4F-EAD2-6B754DE231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Msquared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F4A89F3-849B-BC54-854A-07BACBEF9F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2751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01E7D43-C99B-557D-6396-716F37EB1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Summary</a:t>
            </a: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62C35563-35FB-79D6-4F66-490BE4EEC1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49243"/>
              </p:ext>
            </p:extLst>
          </p:nvPr>
        </p:nvGraphicFramePr>
        <p:xfrm>
          <a:off x="494269" y="1825626"/>
          <a:ext cx="11318792" cy="4351335"/>
        </p:xfrm>
        <a:graphic>
          <a:graphicData uri="http://schemas.openxmlformats.org/drawingml/2006/table">
            <a:tbl>
              <a:tblPr/>
              <a:tblGrid>
                <a:gridCol w="1705234">
                  <a:extLst>
                    <a:ext uri="{9D8B030D-6E8A-4147-A177-3AD203B41FA5}">
                      <a16:colId xmlns:a16="http://schemas.microsoft.com/office/drawing/2014/main" val="3997372859"/>
                    </a:ext>
                  </a:extLst>
                </a:gridCol>
                <a:gridCol w="1260389">
                  <a:extLst>
                    <a:ext uri="{9D8B030D-6E8A-4147-A177-3AD203B41FA5}">
                      <a16:colId xmlns:a16="http://schemas.microsoft.com/office/drawing/2014/main" val="2307838413"/>
                    </a:ext>
                  </a:extLst>
                </a:gridCol>
                <a:gridCol w="1278924">
                  <a:extLst>
                    <a:ext uri="{9D8B030D-6E8A-4147-A177-3AD203B41FA5}">
                      <a16:colId xmlns:a16="http://schemas.microsoft.com/office/drawing/2014/main" val="1620850090"/>
                    </a:ext>
                  </a:extLst>
                </a:gridCol>
                <a:gridCol w="1414849">
                  <a:extLst>
                    <a:ext uri="{9D8B030D-6E8A-4147-A177-3AD203B41FA5}">
                      <a16:colId xmlns:a16="http://schemas.microsoft.com/office/drawing/2014/main" val="16756752"/>
                    </a:ext>
                  </a:extLst>
                </a:gridCol>
                <a:gridCol w="1414849">
                  <a:extLst>
                    <a:ext uri="{9D8B030D-6E8A-4147-A177-3AD203B41FA5}">
                      <a16:colId xmlns:a16="http://schemas.microsoft.com/office/drawing/2014/main" val="4106004781"/>
                    </a:ext>
                  </a:extLst>
                </a:gridCol>
                <a:gridCol w="1414849">
                  <a:extLst>
                    <a:ext uri="{9D8B030D-6E8A-4147-A177-3AD203B41FA5}">
                      <a16:colId xmlns:a16="http://schemas.microsoft.com/office/drawing/2014/main" val="4122587053"/>
                    </a:ext>
                  </a:extLst>
                </a:gridCol>
                <a:gridCol w="1414849">
                  <a:extLst>
                    <a:ext uri="{9D8B030D-6E8A-4147-A177-3AD203B41FA5}">
                      <a16:colId xmlns:a16="http://schemas.microsoft.com/office/drawing/2014/main" val="272867524"/>
                    </a:ext>
                  </a:extLst>
                </a:gridCol>
                <a:gridCol w="1414849">
                  <a:extLst>
                    <a:ext uri="{9D8B030D-6E8A-4147-A177-3AD203B41FA5}">
                      <a16:colId xmlns:a16="http://schemas.microsoft.com/office/drawing/2014/main" val="1304392205"/>
                    </a:ext>
                  </a:extLst>
                </a:gridCol>
              </a:tblGrid>
              <a:tr h="588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 b="1">
                          <a:effectLst/>
                        </a:rPr>
                        <a:t>Laser</a:t>
                      </a:r>
                      <a:endParaRPr lang="de-DE" sz="1500">
                        <a:effectLst/>
                      </a:endParaRP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 b="1">
                          <a:effectLst/>
                        </a:rPr>
                        <a:t>Wellenlänge </a:t>
                      </a:r>
                      <a:r>
                        <a:rPr lang="el-GR" sz="1500" b="1">
                          <a:effectLst/>
                        </a:rPr>
                        <a:t>λ (</a:t>
                      </a:r>
                      <a:r>
                        <a:rPr lang="de-DE" sz="1500" b="1">
                          <a:effectLst/>
                        </a:rPr>
                        <a:t>nm)</a:t>
                      </a:r>
                      <a:endParaRPr lang="de-DE" sz="1500">
                        <a:effectLst/>
                      </a:endParaRP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 b="1">
                          <a:effectLst/>
                        </a:rPr>
                        <a:t>M² (d1)</a:t>
                      </a:r>
                      <a:endParaRPr lang="de-DE" sz="1500">
                        <a:effectLst/>
                      </a:endParaRP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 b="1">
                          <a:effectLst/>
                        </a:rPr>
                        <a:t>M² (d2)</a:t>
                      </a:r>
                      <a:endParaRPr lang="de-DE" sz="1500">
                        <a:effectLst/>
                      </a:endParaRP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 b="1">
                          <a:effectLst/>
                        </a:rPr>
                        <a:t>Waist d1 (µm)</a:t>
                      </a:r>
                      <a:endParaRPr lang="de-DE" sz="1500">
                        <a:effectLst/>
                      </a:endParaRP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 b="1">
                          <a:effectLst/>
                        </a:rPr>
                        <a:t>Waist d2 (µm)</a:t>
                      </a:r>
                      <a:endParaRPr lang="de-DE" sz="1500">
                        <a:effectLst/>
                      </a:endParaRP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 b="1">
                          <a:effectLst/>
                        </a:rPr>
                        <a:t>z₀ d1 (mm)</a:t>
                      </a:r>
                      <a:endParaRPr lang="de-DE" sz="1500">
                        <a:effectLst/>
                      </a:endParaRP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 b="1">
                          <a:effectLst/>
                        </a:rPr>
                        <a:t>z₀ d2 (mm)</a:t>
                      </a:r>
                      <a:endParaRPr lang="de-DE" sz="1500">
                        <a:effectLst/>
                      </a:endParaRP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10072"/>
                  </a:ext>
                </a:extLst>
              </a:tr>
              <a:tr h="358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Thorlabs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1576.293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2.245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1.005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67.75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72.12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2.52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2.48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260083"/>
                  </a:ext>
                </a:extLst>
              </a:tr>
              <a:tr h="588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Uniphase 1023P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631.805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1.144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1.641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85.38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115.00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7.20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 dirty="0">
                          <a:effectLst/>
                        </a:rPr>
                        <a:t>6.80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387376"/>
                  </a:ext>
                </a:extLst>
              </a:tr>
              <a:tr h="8190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Uniphase 1103P-11777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631.805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1.371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2.656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77.13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118.97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5.26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5.57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917929"/>
                  </a:ext>
                </a:extLst>
              </a:tr>
              <a:tr h="8190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Uniphase 1103P-110838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632.006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1.438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3.183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77.96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127.51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5.38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5.83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125263"/>
                  </a:ext>
                </a:extLst>
              </a:tr>
              <a:tr h="588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Uniphase 1122P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632.208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1.138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3.010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71.30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126.54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6.67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5.51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3240670"/>
                  </a:ext>
                </a:extLst>
              </a:tr>
              <a:tr h="588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Uniphase 1507P0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634.822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1.214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2.090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87.78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134.07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>
                          <a:effectLst/>
                        </a:rPr>
                        <a:t>24.77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 dirty="0">
                          <a:effectLst/>
                        </a:rPr>
                        <a:t>23.08</a:t>
                      </a:r>
                    </a:p>
                  </a:txBody>
                  <a:tcPr marL="95985" marR="95985" marT="63990" marB="63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5768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0833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1B68E6E-05E7-CF76-986E-D740C3C4F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Thorlabs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9D8AC76-9469-E60A-98F0-7196DA9914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8" r="3" b="3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D05EA676-B083-11F9-30E3-4E9D0B0F83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428" r="3" b="3"/>
          <a:stretch>
            <a:fillRect/>
          </a:stretch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70287454-C96C-37B7-6F5E-C881D9264AC0}"/>
              </a:ext>
            </a:extLst>
          </p:cNvPr>
          <p:cNvSpPr txBox="1"/>
          <p:nvPr/>
        </p:nvSpPr>
        <p:spPr>
          <a:xfrm>
            <a:off x="2660786" y="1853253"/>
            <a:ext cx="879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d2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BDA9D38-80A7-6714-9B48-45F9A14DE888}"/>
              </a:ext>
            </a:extLst>
          </p:cNvPr>
          <p:cNvSpPr txBox="1"/>
          <p:nvPr/>
        </p:nvSpPr>
        <p:spPr>
          <a:xfrm>
            <a:off x="7772754" y="1853253"/>
            <a:ext cx="879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d1</a:t>
            </a:r>
          </a:p>
        </p:txBody>
      </p:sp>
    </p:spTree>
    <p:extLst>
      <p:ext uri="{BB962C8B-B14F-4D97-AF65-F5344CB8AC3E}">
        <p14:creationId xmlns:p14="http://schemas.microsoft.com/office/powerpoint/2010/main" val="4049480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7C15D-53B1-9A29-2472-6AFAABA65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B2313A-2790-F488-14B0-823A2E3A8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/>
              <a:t>Uniphase 1507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556383D-BED6-D100-EB27-E17E905A6F0A}"/>
              </a:ext>
            </a:extLst>
          </p:cNvPr>
          <p:cNvSpPr txBox="1"/>
          <p:nvPr/>
        </p:nvSpPr>
        <p:spPr>
          <a:xfrm>
            <a:off x="2660786" y="1853253"/>
            <a:ext cx="879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d2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413ACBF-4F5F-1282-D534-D56F349C7ED3}"/>
              </a:ext>
            </a:extLst>
          </p:cNvPr>
          <p:cNvSpPr txBox="1"/>
          <p:nvPr/>
        </p:nvSpPr>
        <p:spPr>
          <a:xfrm>
            <a:off x="7772754" y="1853253"/>
            <a:ext cx="879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d1</a:t>
            </a:r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3AFA201B-66B8-5A9E-B37E-ECAD2C1974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3312" y="2810364"/>
            <a:ext cx="4515216" cy="3010144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ED50753F-E4DC-911B-F803-CF1FBA002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377" y="3003795"/>
            <a:ext cx="4515216" cy="301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811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CF90E-672F-EE7A-9871-ABBBF6233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14CE5B-5704-7911-1216-29055F519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Uniphase 1023p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4696ACB-5AB8-1500-357E-C0C1D64F5028}"/>
              </a:ext>
            </a:extLst>
          </p:cNvPr>
          <p:cNvSpPr txBox="1"/>
          <p:nvPr/>
        </p:nvSpPr>
        <p:spPr>
          <a:xfrm>
            <a:off x="2660786" y="1853253"/>
            <a:ext cx="879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d2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D71D353-556A-6D28-B105-3589C90F0334}"/>
              </a:ext>
            </a:extLst>
          </p:cNvPr>
          <p:cNvSpPr txBox="1"/>
          <p:nvPr/>
        </p:nvSpPr>
        <p:spPr>
          <a:xfrm>
            <a:off x="7772754" y="1853253"/>
            <a:ext cx="879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d1</a:t>
            </a:r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0F103816-49FF-C8D3-8CB3-B55E382A91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5400" y="2576696"/>
            <a:ext cx="4990001" cy="3326667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8B203561-16A3-29F8-CED3-A277E6E45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3326" y="2809012"/>
            <a:ext cx="4463562" cy="297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094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A6955-52F7-088B-3DA1-CEB0BDB7C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5D7C3A-D508-3775-1550-8B29A0ADD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Uniphase 1103p11777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9A12549-071E-FC17-4179-C26346BA5E32}"/>
              </a:ext>
            </a:extLst>
          </p:cNvPr>
          <p:cNvSpPr txBox="1"/>
          <p:nvPr/>
        </p:nvSpPr>
        <p:spPr>
          <a:xfrm>
            <a:off x="2660786" y="1853253"/>
            <a:ext cx="879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d2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FE26EC0-3F59-008F-E8B2-4BE5A44C0254}"/>
              </a:ext>
            </a:extLst>
          </p:cNvPr>
          <p:cNvSpPr txBox="1"/>
          <p:nvPr/>
        </p:nvSpPr>
        <p:spPr>
          <a:xfrm>
            <a:off x="7772754" y="1853253"/>
            <a:ext cx="879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d1</a:t>
            </a:r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36942BB0-8430-ECED-5173-A374CF68AA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0272" y="2576696"/>
            <a:ext cx="4940258" cy="3293505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9E1939A5-6AFF-0D65-97D2-E679D503E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240" y="2510807"/>
            <a:ext cx="4940258" cy="329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039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163D3-A022-1182-4901-726A2A71F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05A1E8-DA73-AC78-0A9C-06CE049A7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Uniphase 1103p110838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368455B-8A18-1663-91A2-FFBABD7284AF}"/>
              </a:ext>
            </a:extLst>
          </p:cNvPr>
          <p:cNvSpPr txBox="1"/>
          <p:nvPr/>
        </p:nvSpPr>
        <p:spPr>
          <a:xfrm>
            <a:off x="2660786" y="1853253"/>
            <a:ext cx="879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d2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D52AFF2-4683-A81E-9872-0BE4AC2FD81B}"/>
              </a:ext>
            </a:extLst>
          </p:cNvPr>
          <p:cNvSpPr txBox="1"/>
          <p:nvPr/>
        </p:nvSpPr>
        <p:spPr>
          <a:xfrm>
            <a:off x="7772754" y="1853253"/>
            <a:ext cx="879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d1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8211FF40-DA9B-0EFD-3A00-ADC6E7E8B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70" y="2576696"/>
            <a:ext cx="5596581" cy="3731054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EC21AE3A-A19E-2439-1927-F52A8749E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181" y="2865020"/>
            <a:ext cx="4731608" cy="315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534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87616-4A31-973B-BECE-0F2BCF7F2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9BB6F3-EE50-87BF-7BD8-A0186CCC2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/>
              <a:t>Uniphase1122p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EC074A6-E553-2FD1-DFA0-2333E5AE158A}"/>
              </a:ext>
            </a:extLst>
          </p:cNvPr>
          <p:cNvSpPr txBox="1"/>
          <p:nvPr/>
        </p:nvSpPr>
        <p:spPr>
          <a:xfrm>
            <a:off x="2660786" y="1853253"/>
            <a:ext cx="879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d2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08D7626-20D3-31AA-4835-63911102B8B3}"/>
              </a:ext>
            </a:extLst>
          </p:cNvPr>
          <p:cNvSpPr txBox="1"/>
          <p:nvPr/>
        </p:nvSpPr>
        <p:spPr>
          <a:xfrm>
            <a:off x="7772754" y="1853253"/>
            <a:ext cx="879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d1</a:t>
            </a:r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0EE22032-E2B1-5F03-3F6F-38BB749BFD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0524" y="2576696"/>
            <a:ext cx="4570627" cy="3047085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16166629-B682-E89F-9090-0CBF4A924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851" y="2624107"/>
            <a:ext cx="4428392" cy="295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978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</Words>
  <Application>Microsoft Macintosh PowerPoint</Application>
  <PresentationFormat>Breitbild</PresentationFormat>
  <Paragraphs>76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</vt:lpstr>
      <vt:lpstr>Msquared</vt:lpstr>
      <vt:lpstr>Summary</vt:lpstr>
      <vt:lpstr>Thorlabs</vt:lpstr>
      <vt:lpstr>Uniphase 1507</vt:lpstr>
      <vt:lpstr>Uniphase 1023p</vt:lpstr>
      <vt:lpstr>Uniphase 1103p11777</vt:lpstr>
      <vt:lpstr>Uniphase 1103p110838</vt:lpstr>
      <vt:lpstr>Uniphase1122p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Carolina Krotsch</dc:creator>
  <cp:lastModifiedBy>Carolina Krotsch</cp:lastModifiedBy>
  <cp:revision>5</cp:revision>
  <dcterms:created xsi:type="dcterms:W3CDTF">2026-05-18T16:22:25Z</dcterms:created>
  <dcterms:modified xsi:type="dcterms:W3CDTF">2026-05-18T17:06:13Z</dcterms:modified>
</cp:coreProperties>
</file>